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D2FD2-8F56-7A3E-B136-E9E1D0B69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D47DE1-DB10-5326-748B-9998992F6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7FC79F-3C21-43CC-A624-BC505697C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543BFA-BE93-711A-6263-CF6E3013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6B3E36-BB7F-4B73-83A1-A7B73FCF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37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3A123-2ABC-8C69-605B-56F86235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DE7E10-DD37-B889-DE23-7E2D27422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C1FA6F-18E9-F8CD-67DA-B23ECEBE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7BF6A5-B77E-3F88-5ED0-7A79A653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90D64-8BC8-B746-E8D8-85664C88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293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4EFD9-1AB8-E7D5-A9FF-34E7B484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0AA256-086E-804C-0195-871B992AA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4F6D69-F109-0671-DF05-5F752F7F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5E21D3-D70B-3635-7D25-C379A799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55DB7F-947D-6268-92FA-F806254D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966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0E8EF-7976-CC0E-97B9-B88589C5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EB7058-0471-405F-DF63-B5B6D736A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4514A3-845B-22D6-E8E8-EADE39082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F7BA6F-FE87-D26C-5188-B32C54E4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9D594B-B5EA-DC55-F99D-B85DF5A6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61A8FF-685E-7D4F-6751-58FA06B0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650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675F7-9CA9-820A-F9B2-099D3A58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1A6E9C-0827-CBA3-563A-C66B8D493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1046F4-A6DA-C762-866F-BFAE70531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1B29CE-EAB4-FEF9-2442-831006B84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F07C15-911B-80EE-B552-3213503EB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209817-6ADB-4768-D6F6-98864993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D66B63-1047-EFB0-25E4-E1DB0F3C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328FF7-9486-F250-6E67-E0BD4444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756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059BD-1A49-CED0-895E-3DAA0712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76CD5E-3F8A-51C5-7BB8-644D3166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E27728-2887-DCFF-AE90-DFF25062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E2633B-7D65-A280-8BD2-E2E38161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27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D64D18-3D3C-35F0-1340-04CB9108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006851-D9D4-FEA3-3FB9-DA601FD2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1F7647-C205-A423-20FD-4D804F64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631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31E87-1FAC-74D6-63DC-332F3361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24B9F0-3EC0-BF55-1154-8F04D3B03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86A672-63E9-E148-F369-7438C18F6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853B86-5172-B47A-2A36-5892C117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87C3AC-1502-F124-4977-DB644F08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FC611C-0448-9065-5A9C-B7770827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489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334BC-9DF2-9998-4953-90CA8250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FAFAAF-C4EA-FA3B-B134-4937A2771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AB5726-CA8F-81AA-6FDF-1497812C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D54330-768A-0C00-E9CC-29B883BE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F6BB3A-839F-5807-7FDF-1278F912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DB74F9-2386-9F5B-9D10-1EAED44C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230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6A8A8-90BF-4D5E-CC09-7B4AE0016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D78691-CFDB-4102-830D-CCE4859CC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3E708-C149-A633-9517-25401943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508791-FEE7-39F0-D737-B5DB3A4D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045D80-DBA2-4476-F519-E9BCE4D7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375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5DD1EF-1849-7691-F9D4-E89E6A450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39963F-444A-ED6B-2CA3-991F54BA9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75C75C-F7A0-1628-4152-29606FEE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BEF714-68E9-732C-2F63-887DC9E0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F84359-DA69-4C1F-8157-B8E630AD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632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0F3753B-50BE-8FEA-6738-3D0F626B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4D252F-EE2C-1AE6-7BD9-9D50C870A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560A9-9633-984A-204C-C8D3EC84F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59A5E-0A4E-43F0-A4E6-DFECF1E24FDD}" type="datetimeFigureOut">
              <a:rPr lang="es-CO" smtClean="0"/>
              <a:t>22/04/2026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87B63-DCF5-B2D4-54D0-E7995F9C4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DE32B2-5F20-40D0-4780-264882A02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2F837-9F31-4867-ADED-5B4863E849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293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4DFF0-0436-4B5F-F64A-F11A504EB6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Avances – Monitor Productividad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8EED5F-67F7-F67D-57D7-D13BB7182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105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22F1E-7F17-1035-9FF4-E8023BA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Definiciones a tener en cuenta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D153B6-DFFA-0E6E-3B25-416826272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Productividad laboral = Valor agregado / Total empleados (DANE, Diccionario)</a:t>
            </a:r>
          </a:p>
          <a:p>
            <a:pPr marL="0" indent="0">
              <a:buNone/>
            </a:pPr>
            <a:r>
              <a:rPr lang="es-CO" dirty="0"/>
              <a:t>Regiones = Definición geográfica o definición </a:t>
            </a:r>
            <a:r>
              <a:rPr lang="es-CO" dirty="0" err="1"/>
              <a:t>banrep</a:t>
            </a:r>
            <a:r>
              <a:rPr lang="es-CO" dirty="0"/>
              <a:t>? Excluir </a:t>
            </a:r>
            <a:r>
              <a:rPr lang="es-CO" dirty="0" err="1"/>
              <a:t>Bogota</a:t>
            </a:r>
            <a:r>
              <a:rPr lang="es-CO" dirty="0"/>
              <a:t> como región aparte</a:t>
            </a:r>
          </a:p>
          <a:p>
            <a:pPr marL="0" indent="0">
              <a:buNone/>
            </a:pPr>
            <a:r>
              <a:rPr lang="es-CO" dirty="0"/>
              <a:t>Establecimiento = unidad productiva</a:t>
            </a:r>
            <a:br>
              <a:rPr lang="es-CO" dirty="0"/>
            </a:br>
            <a:r>
              <a:rPr lang="es-CO" dirty="0"/>
              <a:t>local (único emplazamiento)</a:t>
            </a:r>
          </a:p>
          <a:p>
            <a:pPr marL="0" indent="0">
              <a:buNone/>
            </a:pPr>
            <a:r>
              <a:rPr lang="es-CO" dirty="0"/>
              <a:t>Empresa = unidad económica </a:t>
            </a:r>
            <a:br>
              <a:rPr lang="es-CO" dirty="0"/>
            </a:br>
            <a:r>
              <a:rPr lang="es-CO" dirty="0"/>
              <a:t>(jurídico)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445A83-607C-A99A-FFD1-E99765A6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741" y="3295853"/>
            <a:ext cx="5183815" cy="348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04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7FEA-61CC-1192-7D5F-D7401E55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368D8-5B58-44B6-A99C-181330528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39"/>
            <a:ext cx="10515600" cy="1325563"/>
          </a:xfrm>
        </p:spPr>
        <p:txBody>
          <a:bodyPr/>
          <a:lstStyle/>
          <a:p>
            <a:r>
              <a:rPr lang="es-CO" dirty="0"/>
              <a:t>Aspectos metodológicos a considerar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F4242B-A673-B341-2DB9-82A226CF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1"/>
            <a:ext cx="10515600" cy="5591490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s-CO" dirty="0"/>
              <a:t>Cambio de revisión CIIU EAM </a:t>
            </a:r>
            <a:br>
              <a:rPr lang="es-CO" dirty="0"/>
            </a:br>
            <a:r>
              <a:rPr lang="es-CO" dirty="0"/>
              <a:t>(CIIU </a:t>
            </a:r>
            <a:r>
              <a:rPr lang="es-CO" dirty="0" err="1"/>
              <a:t>Rev</a:t>
            </a:r>
            <a:r>
              <a:rPr lang="es-CO" dirty="0"/>
              <a:t> 2 = 1992 – 2000, </a:t>
            </a:r>
            <a:br>
              <a:rPr lang="es-CO" dirty="0"/>
            </a:br>
            <a:r>
              <a:rPr lang="es-CO" dirty="0"/>
              <a:t>CIIU </a:t>
            </a:r>
            <a:r>
              <a:rPr lang="es-CO" dirty="0" err="1"/>
              <a:t>Rev</a:t>
            </a:r>
            <a:r>
              <a:rPr lang="es-CO" dirty="0"/>
              <a:t> 3 = 2001 – 2011, </a:t>
            </a:r>
            <a:br>
              <a:rPr lang="es-CO" dirty="0"/>
            </a:br>
            <a:r>
              <a:rPr lang="es-CO" dirty="0"/>
              <a:t>CIIU </a:t>
            </a:r>
            <a:r>
              <a:rPr lang="es-CO" dirty="0" err="1"/>
              <a:t>Rev</a:t>
            </a:r>
            <a:r>
              <a:rPr lang="es-CO" dirty="0"/>
              <a:t> 4 = 2012 - Presente)</a:t>
            </a:r>
          </a:p>
          <a:p>
            <a:pPr>
              <a:buFontTx/>
              <a:buChar char="-"/>
            </a:pPr>
            <a:r>
              <a:rPr lang="es-CO" dirty="0"/>
              <a:t>Se logro homogenizar la CIIU </a:t>
            </a:r>
            <a:r>
              <a:rPr lang="es-CO" dirty="0" err="1"/>
              <a:t>Rev</a:t>
            </a:r>
            <a:r>
              <a:rPr lang="es-CO" dirty="0"/>
              <a:t> 3 con </a:t>
            </a:r>
            <a:r>
              <a:rPr lang="es-CO" dirty="0" err="1"/>
              <a:t>Rev</a:t>
            </a:r>
            <a:r>
              <a:rPr lang="es-CO" dirty="0"/>
              <a:t> 4:</a:t>
            </a:r>
            <a:br>
              <a:rPr lang="es-CO" dirty="0"/>
            </a:br>
            <a:r>
              <a:rPr lang="es-CO" dirty="0"/>
              <a:t>Ejemplo: CIIU </a:t>
            </a:r>
            <a:r>
              <a:rPr lang="es-CO" dirty="0" err="1"/>
              <a:t>Rev</a:t>
            </a:r>
            <a:r>
              <a:rPr lang="es-CO" dirty="0"/>
              <a:t> 3: Alimentos y bebidas es 15</a:t>
            </a:r>
            <a:br>
              <a:rPr lang="es-CO" dirty="0"/>
            </a:br>
            <a:r>
              <a:rPr lang="es-CO" dirty="0"/>
              <a:t>CIIU </a:t>
            </a:r>
            <a:r>
              <a:rPr lang="es-CO" dirty="0" err="1"/>
              <a:t>Rev</a:t>
            </a:r>
            <a:r>
              <a:rPr lang="es-CO" dirty="0"/>
              <a:t> 4: Alimentos es 10, bebidas es 11. </a:t>
            </a:r>
            <a:r>
              <a:rPr lang="es-CO" dirty="0" err="1"/>
              <a:t>Solucion</a:t>
            </a:r>
            <a:r>
              <a:rPr lang="es-CO" dirty="0"/>
              <a:t>: Agruparlos</a:t>
            </a:r>
            <a:br>
              <a:rPr lang="es-CO" dirty="0"/>
            </a:br>
            <a:r>
              <a:rPr lang="es-CO" dirty="0"/>
              <a:t>Otro caso: CIIU con numero diferente (</a:t>
            </a:r>
            <a:r>
              <a:rPr lang="es-CO" dirty="0" err="1"/>
              <a:t>Rev</a:t>
            </a:r>
            <a:r>
              <a:rPr lang="es-CO" dirty="0"/>
              <a:t> 4 es 30, </a:t>
            </a:r>
            <a:r>
              <a:rPr lang="es-CO" dirty="0" err="1"/>
              <a:t>Rev</a:t>
            </a:r>
            <a:r>
              <a:rPr lang="es-CO" dirty="0"/>
              <a:t> 3 es 35). </a:t>
            </a:r>
            <a:r>
              <a:rPr lang="es-CO" dirty="0" err="1"/>
              <a:t>Solucion</a:t>
            </a:r>
            <a:r>
              <a:rPr lang="es-CO" dirty="0"/>
              <a:t>: Reordenar.</a:t>
            </a:r>
          </a:p>
          <a:p>
            <a:pPr>
              <a:buFontTx/>
              <a:buChar char="-"/>
            </a:pPr>
            <a:r>
              <a:rPr lang="es-CO" dirty="0"/>
              <a:t>Valor agregado = actualmente esta en términos nominales, pasarlo a términos reales con IPP (si se encuentra industria mejor)</a:t>
            </a:r>
          </a:p>
          <a:p>
            <a:pPr>
              <a:buFontTx/>
              <a:buChar char="-"/>
            </a:pPr>
            <a:r>
              <a:rPr lang="es-CO" dirty="0"/>
              <a:t>Salario = actualmente esta en términos nominales, pasarlo a términos reales con IPC.</a:t>
            </a:r>
          </a:p>
          <a:p>
            <a:pPr>
              <a:buFontTx/>
              <a:buChar char="-"/>
            </a:pP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2E63E2-CA89-D827-22BB-C5005E3CB91C}"/>
              </a:ext>
            </a:extLst>
          </p:cNvPr>
          <p:cNvSpPr txBox="1"/>
          <p:nvPr/>
        </p:nvSpPr>
        <p:spPr>
          <a:xfrm>
            <a:off x="8866238" y="1917290"/>
            <a:ext cx="2853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Implicaciones para el promedio y mediana: Recalcular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F8B9B97-F7D2-A040-B31D-60DC6FF242DD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0293144" y="2840620"/>
            <a:ext cx="1" cy="41342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2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5201-AFED-379A-3260-2CA3DDA5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BB64A23-1F78-C4B0-BF7F-B9998384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2766218"/>
            <a:ext cx="10515600" cy="1325563"/>
          </a:xfrm>
        </p:spPr>
        <p:txBody>
          <a:bodyPr/>
          <a:lstStyle/>
          <a:p>
            <a:pPr algn="ctr"/>
            <a:r>
              <a:rPr lang="es-CO" dirty="0"/>
              <a:t>Descriptivas sectoriales</a:t>
            </a:r>
          </a:p>
        </p:txBody>
      </p:sp>
    </p:spTree>
    <p:extLst>
      <p:ext uri="{BB962C8B-B14F-4D97-AF65-F5344CB8AC3E}">
        <p14:creationId xmlns:p14="http://schemas.microsoft.com/office/powerpoint/2010/main" val="226627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D29FA2-6ACE-1483-5AA8-524A29EF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9" y="262344"/>
            <a:ext cx="8426243" cy="28418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D37756-F3D7-C7E3-CCB0-7111B6CCF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51903"/>
            <a:ext cx="9256014" cy="330609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9D75643-E174-CC9F-054D-6DCAB320841B}"/>
              </a:ext>
            </a:extLst>
          </p:cNvPr>
          <p:cNvSpPr txBox="1"/>
          <p:nvPr/>
        </p:nvSpPr>
        <p:spPr>
          <a:xfrm>
            <a:off x="9256014" y="3864078"/>
            <a:ext cx="28808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Alimentos y bebidas</a:t>
            </a:r>
          </a:p>
          <a:p>
            <a:r>
              <a:rPr lang="es-CO" dirty="0"/>
              <a:t>2. Confecciones cueros y calzados</a:t>
            </a:r>
          </a:p>
          <a:p>
            <a:r>
              <a:rPr lang="es-CO" dirty="0"/>
              <a:t>3. Muebles y otras manufacturas</a:t>
            </a:r>
          </a:p>
          <a:p>
            <a:r>
              <a:rPr lang="es-CO" dirty="0"/>
              <a:t>4. Madera papel e impresión</a:t>
            </a:r>
          </a:p>
          <a:p>
            <a:r>
              <a:rPr lang="es-CO" dirty="0"/>
              <a:t>5. Refinación, químicos y farmacéuticos</a:t>
            </a:r>
          </a:p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7EEA9A-C8BA-A4F8-AA34-7B294C0E6078}"/>
              </a:ext>
            </a:extLst>
          </p:cNvPr>
          <p:cNvSpPr txBox="1"/>
          <p:nvPr/>
        </p:nvSpPr>
        <p:spPr>
          <a:xfrm>
            <a:off x="9256014" y="546205"/>
            <a:ext cx="28808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¿Qué ocurrió para tal caída, y porque hubo tal aumento en periodo de crisis del 2008, impacto del TLC con USA?</a:t>
            </a:r>
          </a:p>
        </p:txBody>
      </p:sp>
    </p:spTree>
    <p:extLst>
      <p:ext uri="{BB962C8B-B14F-4D97-AF65-F5344CB8AC3E}">
        <p14:creationId xmlns:p14="http://schemas.microsoft.com/office/powerpoint/2010/main" val="140113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0910-AE29-E01E-39F6-F6856D529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3D399D3-70FF-21BA-F6A5-87D1FC5D9C1C}"/>
              </a:ext>
            </a:extLst>
          </p:cNvPr>
          <p:cNvSpPr txBox="1"/>
          <p:nvPr/>
        </p:nvSpPr>
        <p:spPr>
          <a:xfrm>
            <a:off x="9256014" y="3864078"/>
            <a:ext cx="2880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Alimentos y bebidas</a:t>
            </a:r>
          </a:p>
          <a:p>
            <a:r>
              <a:rPr lang="es-CO" dirty="0"/>
              <a:t>2. Refinación, químicos y farmacéuticos</a:t>
            </a:r>
          </a:p>
          <a:p>
            <a:r>
              <a:rPr lang="es-CO" dirty="0"/>
              <a:t>3. Muebles y otras manufacturas</a:t>
            </a:r>
          </a:p>
          <a:p>
            <a:r>
              <a:rPr lang="es-CO" dirty="0"/>
              <a:t>4. Minerales no metálicos</a:t>
            </a:r>
          </a:p>
          <a:p>
            <a:r>
              <a:rPr lang="es-CO" dirty="0"/>
              <a:t>5. Madera, papel e impresión</a:t>
            </a:r>
          </a:p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958983-7E0B-7770-F2EE-60411F259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8089"/>
            <a:ext cx="9153832" cy="325991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D10F3C9-1BEA-746C-122D-CE32D450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53832" cy="32471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02F7F24-F607-4F06-FAEC-83A42472940A}"/>
              </a:ext>
            </a:extLst>
          </p:cNvPr>
          <p:cNvSpPr txBox="1"/>
          <p:nvPr/>
        </p:nvSpPr>
        <p:spPr>
          <a:xfrm>
            <a:off x="9153832" y="192399"/>
            <a:ext cx="2880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Alimentos y bebidas</a:t>
            </a:r>
          </a:p>
          <a:p>
            <a:r>
              <a:rPr lang="es-CO" dirty="0"/>
              <a:t>2. Confecciones, cuero y calzados</a:t>
            </a:r>
          </a:p>
          <a:p>
            <a:r>
              <a:rPr lang="es-CO" dirty="0"/>
              <a:t>3. Refinación, químicos y farmacéuticos</a:t>
            </a:r>
          </a:p>
          <a:p>
            <a:r>
              <a:rPr lang="es-CO" dirty="0"/>
              <a:t>4. Muebles y otras manufacturas</a:t>
            </a:r>
          </a:p>
          <a:p>
            <a:r>
              <a:rPr lang="es-CO" dirty="0"/>
              <a:t>5. Caucho y plástico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176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56EF8-D37A-4B37-7BA1-430492CB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CA38F5AC-B3EF-7A90-60AE-659E1E75B233}"/>
              </a:ext>
            </a:extLst>
          </p:cNvPr>
          <p:cNvSpPr txBox="1"/>
          <p:nvPr/>
        </p:nvSpPr>
        <p:spPr>
          <a:xfrm>
            <a:off x="9153832" y="1750142"/>
            <a:ext cx="2880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</a:t>
            </a:r>
            <a:r>
              <a:rPr lang="es-CO" dirty="0" err="1"/>
              <a:t>Refinacion</a:t>
            </a:r>
            <a:r>
              <a:rPr lang="es-CO" dirty="0"/>
              <a:t>, químicos y </a:t>
            </a:r>
            <a:r>
              <a:rPr lang="es-CO" dirty="0" err="1"/>
              <a:t>farmaceuticos</a:t>
            </a:r>
            <a:endParaRPr lang="es-CO" dirty="0"/>
          </a:p>
          <a:p>
            <a:r>
              <a:rPr lang="es-CO" dirty="0"/>
              <a:t>2. Alimentos y bebidas</a:t>
            </a:r>
          </a:p>
          <a:p>
            <a:r>
              <a:rPr lang="es-CO" dirty="0"/>
              <a:t>3. Muebles y otras manufacturas</a:t>
            </a:r>
            <a:br>
              <a:rPr lang="es-CO" dirty="0"/>
            </a:br>
            <a:r>
              <a:rPr lang="es-CO" dirty="0"/>
              <a:t>4. Minerales no metálicos</a:t>
            </a:r>
          </a:p>
          <a:p>
            <a:r>
              <a:rPr lang="es-CO" dirty="0"/>
              <a:t>5. Madera, papel e impresión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9BFD2F-DFED-7758-E7DE-709E9052D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16"/>
            <a:ext cx="9153832" cy="60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8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630A7-DC9C-B6B6-B71D-E58A2296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AA4855B-912F-F311-01CE-E4DF78F99CDA}"/>
              </a:ext>
            </a:extLst>
          </p:cNvPr>
          <p:cNvSpPr txBox="1"/>
          <p:nvPr/>
        </p:nvSpPr>
        <p:spPr>
          <a:xfrm>
            <a:off x="9153832" y="1750142"/>
            <a:ext cx="2880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</a:t>
            </a:r>
            <a:r>
              <a:rPr lang="es-CO" dirty="0" err="1"/>
              <a:t>Refinacion</a:t>
            </a:r>
            <a:r>
              <a:rPr lang="es-CO" dirty="0"/>
              <a:t>, químicos y </a:t>
            </a:r>
            <a:r>
              <a:rPr lang="es-CO" dirty="0" err="1"/>
              <a:t>farmaceuticos</a:t>
            </a:r>
            <a:endParaRPr lang="es-CO" dirty="0"/>
          </a:p>
          <a:p>
            <a:r>
              <a:rPr lang="es-CO" dirty="0"/>
              <a:t>2. Alimentos y bebidas</a:t>
            </a:r>
          </a:p>
          <a:p>
            <a:r>
              <a:rPr lang="es-CO" dirty="0"/>
              <a:t>3. Muebles y otras manufacturas</a:t>
            </a:r>
            <a:br>
              <a:rPr lang="es-CO" dirty="0"/>
            </a:br>
            <a:r>
              <a:rPr lang="es-CO" dirty="0"/>
              <a:t>4. Minerales no metálicos</a:t>
            </a:r>
          </a:p>
          <a:p>
            <a:r>
              <a:rPr lang="es-CO" dirty="0"/>
              <a:t>5. Madera, papel e impresión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C0A330-0E61-B6E6-D721-5D4E0B3DF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16"/>
            <a:ext cx="9153832" cy="60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85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234CE-D02C-0803-3C39-0523FC71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C434F775-22B1-DA50-8A33-3F9C9C2163E7}"/>
              </a:ext>
            </a:extLst>
          </p:cNvPr>
          <p:cNvSpPr txBox="1"/>
          <p:nvPr/>
        </p:nvSpPr>
        <p:spPr>
          <a:xfrm>
            <a:off x="9153832" y="1750142"/>
            <a:ext cx="2880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Alimentos y bebidas</a:t>
            </a:r>
          </a:p>
          <a:p>
            <a:r>
              <a:rPr lang="es-CO" dirty="0"/>
              <a:t>2. Confecciones, cuero y calzado</a:t>
            </a:r>
          </a:p>
          <a:p>
            <a:r>
              <a:rPr lang="es-CO" dirty="0"/>
              <a:t>3. Muebles y otras manufacturas</a:t>
            </a:r>
            <a:br>
              <a:rPr lang="es-CO" dirty="0"/>
            </a:br>
            <a:r>
              <a:rPr lang="es-CO" dirty="0"/>
              <a:t>4. Maquinaria y equipo</a:t>
            </a:r>
          </a:p>
          <a:p>
            <a:r>
              <a:rPr lang="es-CO" dirty="0"/>
              <a:t>5. Metalurgia y productos </a:t>
            </a:r>
            <a:r>
              <a:rPr lang="es-CO" dirty="0" err="1"/>
              <a:t>metalicos</a:t>
            </a:r>
            <a:endParaRPr lang="es-CO" dirty="0"/>
          </a:p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D3A1E7-CDBF-39E0-C3B6-9740D066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531"/>
            <a:ext cx="9121917" cy="46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7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0893-55F4-0F93-C3A3-0814EF52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0ADD0C8-8DF6-9AB8-6B6F-C4EAB34CE1B8}"/>
              </a:ext>
            </a:extLst>
          </p:cNvPr>
          <p:cNvSpPr txBox="1"/>
          <p:nvPr/>
        </p:nvSpPr>
        <p:spPr>
          <a:xfrm>
            <a:off x="8947354" y="737731"/>
            <a:ext cx="2880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</a:t>
            </a:r>
            <a:r>
              <a:rPr lang="es-CO" dirty="0" err="1"/>
              <a:t>Refinacion</a:t>
            </a:r>
            <a:r>
              <a:rPr lang="es-CO" dirty="0"/>
              <a:t>, químicos y </a:t>
            </a:r>
            <a:r>
              <a:rPr lang="es-CO" dirty="0" err="1"/>
              <a:t>farmaceuticos</a:t>
            </a:r>
            <a:endParaRPr lang="es-CO" dirty="0"/>
          </a:p>
          <a:p>
            <a:r>
              <a:rPr lang="es-CO" dirty="0"/>
              <a:t>2. Maquina y equipo</a:t>
            </a:r>
          </a:p>
          <a:p>
            <a:r>
              <a:rPr lang="es-CO" dirty="0"/>
              <a:t>3. Muebles y otras manufacturas</a:t>
            </a:r>
            <a:br>
              <a:rPr lang="es-CO" dirty="0"/>
            </a:br>
            <a:r>
              <a:rPr lang="es-CO" dirty="0"/>
              <a:t>4. Madera, papel e </a:t>
            </a:r>
            <a:r>
              <a:rPr lang="es-CO" dirty="0" err="1"/>
              <a:t>impresion</a:t>
            </a:r>
            <a:endParaRPr lang="es-CO" dirty="0"/>
          </a:p>
          <a:p>
            <a:r>
              <a:rPr lang="es-CO" dirty="0"/>
              <a:t>5. Equipos de transporte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3434F1-ACDD-705E-91FA-81D391A9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73729" cy="3429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B141EB4-010C-A489-9685-A22C82864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0053"/>
            <a:ext cx="8573729" cy="31824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AA81489-F638-B4EB-7BDA-47D96B0B6F8D}"/>
              </a:ext>
            </a:extLst>
          </p:cNvPr>
          <p:cNvSpPr txBox="1"/>
          <p:nvPr/>
        </p:nvSpPr>
        <p:spPr>
          <a:xfrm>
            <a:off x="8947354" y="3600053"/>
            <a:ext cx="2880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Top 5</a:t>
            </a:r>
            <a:br>
              <a:rPr lang="es-CO" dirty="0"/>
            </a:br>
            <a:r>
              <a:rPr lang="es-CO" dirty="0"/>
              <a:t>1. </a:t>
            </a:r>
            <a:r>
              <a:rPr lang="es-CO" dirty="0" err="1"/>
              <a:t>Refinacion</a:t>
            </a:r>
            <a:r>
              <a:rPr lang="es-CO" dirty="0"/>
              <a:t>, químicos y </a:t>
            </a:r>
            <a:r>
              <a:rPr lang="es-CO" dirty="0" err="1"/>
              <a:t>farmaceuticos</a:t>
            </a:r>
            <a:endParaRPr lang="es-CO" dirty="0"/>
          </a:p>
          <a:p>
            <a:r>
              <a:rPr lang="es-CO" dirty="0"/>
              <a:t>2. Maquina y equipo</a:t>
            </a:r>
          </a:p>
          <a:p>
            <a:r>
              <a:rPr lang="es-CO" dirty="0"/>
              <a:t>3. Equipo de transporte</a:t>
            </a:r>
            <a:br>
              <a:rPr lang="es-CO" dirty="0"/>
            </a:br>
            <a:r>
              <a:rPr lang="es-CO" dirty="0"/>
              <a:t>4. Metalurgia y productos </a:t>
            </a:r>
            <a:r>
              <a:rPr lang="es-CO" dirty="0" err="1"/>
              <a:t>metalicos</a:t>
            </a:r>
            <a:endParaRPr lang="es-CO" dirty="0"/>
          </a:p>
          <a:p>
            <a:r>
              <a:rPr lang="es-CO" dirty="0"/>
              <a:t>5. Cauchos y </a:t>
            </a:r>
            <a:r>
              <a:rPr lang="es-CO" dirty="0" err="1"/>
              <a:t>plasticos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438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F9E4-90B2-D029-078D-7F1DC5D6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137ABBD-5001-75D2-CBB4-76F6F10B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2766218"/>
            <a:ext cx="10515600" cy="1325563"/>
          </a:xfrm>
        </p:spPr>
        <p:txBody>
          <a:bodyPr/>
          <a:lstStyle/>
          <a:p>
            <a:pPr algn="ctr"/>
            <a:r>
              <a:rPr lang="es-CO" dirty="0"/>
              <a:t>Descriptivas regionales</a:t>
            </a:r>
          </a:p>
        </p:txBody>
      </p:sp>
    </p:spTree>
    <p:extLst>
      <p:ext uri="{BB962C8B-B14F-4D97-AF65-F5344CB8AC3E}">
        <p14:creationId xmlns:p14="http://schemas.microsoft.com/office/powerpoint/2010/main" val="236298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DC604-57F8-CB21-D697-C634FB8E4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191FB3-9236-4D5E-166A-687D9EB9B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74716" cy="3429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0ACD690-481C-6B55-1B11-46FD9703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3" y="3429000"/>
            <a:ext cx="5959313" cy="3429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54C6806-22E5-9FFD-580B-C19A99919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"/>
            <a:ext cx="6080597" cy="3429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5C605C-5533-F2A0-47EB-54DDAA8A7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429001"/>
            <a:ext cx="608059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4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4B848-4E2B-8D09-192E-FFB6A875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FDEF92C-741B-EA9C-B909-F76AED4C2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096000" cy="3429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CE870A0-C623-EC09-091B-36660AA1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1335FA9-B1F5-F657-E570-4474EC4BF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85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492</Words>
  <Application>Microsoft Office PowerPoint</Application>
  <PresentationFormat>Panorámica</PresentationFormat>
  <Paragraphs>50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Avances – Monitor Productividad</vt:lpstr>
      <vt:lpstr>Definiciones a tener en cuenta</vt:lpstr>
      <vt:lpstr>Aspectos metodológicos a considerar</vt:lpstr>
      <vt:lpstr>Descriptivas sectoriales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Descriptivas regionales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Doris Adriana Osorio Barrios</dc:creator>
  <cp:lastModifiedBy>Doris Adriana Osorio Barrios</cp:lastModifiedBy>
  <cp:revision>1</cp:revision>
  <dcterms:created xsi:type="dcterms:W3CDTF">2026-04-22T06:02:26Z</dcterms:created>
  <dcterms:modified xsi:type="dcterms:W3CDTF">2026-04-22T06:44:09Z</dcterms:modified>
</cp:coreProperties>
</file>